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1857970"/>
            <a:ext cx="9445526" cy="18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E-commerce BI &amp; Data Warehousing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007495"/>
            <a:ext cx="9445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Analysis of the Brazilian E-Commerce Public Dataset by Olist (2016-2018)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488781"/>
            <a:ext cx="4376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Student: Sneha Umrikar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6060" y="753516"/>
            <a:ext cx="9717881" cy="157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Executive Summary: Key Findings &amp;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6060" y="2591991"/>
            <a:ext cx="9717881" cy="88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 comprehensive BI/DW solution utilizing Snowflake, Python ETL, and Power BI for Olist data analysis.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6060" y="3754785"/>
            <a:ext cx="28575" cy="5731074"/>
            <a:chOff x="0" y="0"/>
            <a:chExt cx="38100" cy="7641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7641463"/>
            </a:xfrm>
            <a:custGeom>
              <a:avLst/>
              <a:gdLst/>
              <a:ahLst/>
              <a:cxnLst/>
              <a:rect l="l" t="t" r="r" b="b"/>
              <a:pathLst>
                <a:path w="38100" h="764146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622413"/>
                  </a:lnTo>
                  <a:cubicBezTo>
                    <a:pt x="38100" y="7632954"/>
                    <a:pt x="29591" y="7641463"/>
                    <a:pt x="19050" y="7641463"/>
                  </a:cubicBezTo>
                  <a:cubicBezTo>
                    <a:pt x="8509" y="7641463"/>
                    <a:pt x="0" y="7632954"/>
                    <a:pt x="0" y="7622413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872" y="3750022"/>
            <a:ext cx="9727406" cy="2868960"/>
            <a:chOff x="0" y="0"/>
            <a:chExt cx="12969875" cy="3825280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12957175" cy="3812540"/>
            </a:xfrm>
            <a:custGeom>
              <a:avLst/>
              <a:gdLst/>
              <a:ahLst/>
              <a:cxnLst/>
              <a:rect l="l" t="t" r="r" b="b"/>
              <a:pathLst>
                <a:path w="12957175" h="3812540">
                  <a:moveTo>
                    <a:pt x="0" y="0"/>
                  </a:moveTo>
                  <a:lnTo>
                    <a:pt x="12957175" y="0"/>
                  </a:lnTo>
                  <a:lnTo>
                    <a:pt x="12957175" y="3812540"/>
                  </a:lnTo>
                  <a:lnTo>
                    <a:pt x="0" y="3812540"/>
                  </a:ln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2969875" cy="3825240"/>
            </a:xfrm>
            <a:custGeom>
              <a:avLst/>
              <a:gdLst/>
              <a:ahLst/>
              <a:cxnLst/>
              <a:rect l="l" t="t" r="r" b="b"/>
              <a:pathLst>
                <a:path w="12969875" h="3825240">
                  <a:moveTo>
                    <a:pt x="6350" y="0"/>
                  </a:moveTo>
                  <a:lnTo>
                    <a:pt x="12963525" y="0"/>
                  </a:lnTo>
                  <a:cubicBezTo>
                    <a:pt x="12967081" y="0"/>
                    <a:pt x="12969875" y="2794"/>
                    <a:pt x="12969875" y="6350"/>
                  </a:cubicBezTo>
                  <a:lnTo>
                    <a:pt x="12969875" y="3818890"/>
                  </a:lnTo>
                  <a:cubicBezTo>
                    <a:pt x="12969875" y="3822446"/>
                    <a:pt x="12967081" y="3825240"/>
                    <a:pt x="12963525" y="3825240"/>
                  </a:cubicBezTo>
                  <a:lnTo>
                    <a:pt x="6350" y="3825240"/>
                  </a:lnTo>
                  <a:cubicBezTo>
                    <a:pt x="2794" y="3825240"/>
                    <a:pt x="0" y="3822446"/>
                    <a:pt x="0" y="38188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818890"/>
                  </a:lnTo>
                  <a:lnTo>
                    <a:pt x="6350" y="3818890"/>
                  </a:lnTo>
                  <a:lnTo>
                    <a:pt x="6350" y="3812540"/>
                  </a:lnTo>
                  <a:lnTo>
                    <a:pt x="12963525" y="3812540"/>
                  </a:lnTo>
                  <a:lnTo>
                    <a:pt x="12963525" y="3818890"/>
                  </a:lnTo>
                  <a:lnTo>
                    <a:pt x="12957175" y="3818890"/>
                  </a:lnTo>
                  <a:lnTo>
                    <a:pt x="12957175" y="6350"/>
                  </a:lnTo>
                  <a:lnTo>
                    <a:pt x="12963525" y="6350"/>
                  </a:lnTo>
                  <a:lnTo>
                    <a:pt x="129635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9159" y="3980260"/>
            <a:ext cx="3057674" cy="41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Key Findings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9159" y="4432995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Revenue peaks on weekdays and in November.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159" y="4909989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High customer/seller concentration in Southeastern Brazil (e.g., São Paulo).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9159" y="5386982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Dominant product categories: Health &amp; Beauty.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9159" y="5863977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Strong link between delivery timeliness and review scores.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79872" y="7098655"/>
            <a:ext cx="9727406" cy="2391965"/>
            <a:chOff x="0" y="0"/>
            <a:chExt cx="12969875" cy="3189287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12957175" cy="3176524"/>
            </a:xfrm>
            <a:custGeom>
              <a:avLst/>
              <a:gdLst/>
              <a:ahLst/>
              <a:cxnLst/>
              <a:rect l="l" t="t" r="r" b="b"/>
              <a:pathLst>
                <a:path w="12957175" h="3176524">
                  <a:moveTo>
                    <a:pt x="0" y="0"/>
                  </a:moveTo>
                  <a:lnTo>
                    <a:pt x="12957175" y="0"/>
                  </a:lnTo>
                  <a:lnTo>
                    <a:pt x="12957175" y="3176524"/>
                  </a:lnTo>
                  <a:lnTo>
                    <a:pt x="0" y="3176524"/>
                  </a:ln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2969875" cy="3189224"/>
            </a:xfrm>
            <a:custGeom>
              <a:avLst/>
              <a:gdLst/>
              <a:ahLst/>
              <a:cxnLst/>
              <a:rect l="l" t="t" r="r" b="b"/>
              <a:pathLst>
                <a:path w="12969875" h="3189224">
                  <a:moveTo>
                    <a:pt x="6350" y="0"/>
                  </a:moveTo>
                  <a:lnTo>
                    <a:pt x="12963525" y="0"/>
                  </a:lnTo>
                  <a:cubicBezTo>
                    <a:pt x="12967081" y="0"/>
                    <a:pt x="12969875" y="2794"/>
                    <a:pt x="12969875" y="6350"/>
                  </a:cubicBezTo>
                  <a:lnTo>
                    <a:pt x="12969875" y="3182874"/>
                  </a:lnTo>
                  <a:cubicBezTo>
                    <a:pt x="12969875" y="3186430"/>
                    <a:pt x="12967081" y="3189224"/>
                    <a:pt x="12963525" y="3189224"/>
                  </a:cubicBezTo>
                  <a:lnTo>
                    <a:pt x="6350" y="3189224"/>
                  </a:lnTo>
                  <a:cubicBezTo>
                    <a:pt x="2794" y="3189224"/>
                    <a:pt x="0" y="3186430"/>
                    <a:pt x="0" y="318287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182874"/>
                  </a:lnTo>
                  <a:lnTo>
                    <a:pt x="6350" y="3182874"/>
                  </a:lnTo>
                  <a:lnTo>
                    <a:pt x="6350" y="3176524"/>
                  </a:lnTo>
                  <a:lnTo>
                    <a:pt x="12963525" y="3176524"/>
                  </a:lnTo>
                  <a:lnTo>
                    <a:pt x="12963525" y="3182874"/>
                  </a:lnTo>
                  <a:lnTo>
                    <a:pt x="12957175" y="3182874"/>
                  </a:lnTo>
                  <a:lnTo>
                    <a:pt x="12957175" y="6350"/>
                  </a:lnTo>
                  <a:lnTo>
                    <a:pt x="12963525" y="6350"/>
                  </a:lnTo>
                  <a:lnTo>
                    <a:pt x="129635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9159" y="7328892"/>
            <a:ext cx="4117181" cy="41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Strategic Recommendations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159" y="7781627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Optimize logistics to reduce delivery delays.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159" y="8258621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Promote installment payments for high-value purchases.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159" y="8735616"/>
            <a:ext cx="9219308" cy="4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Target regional markets for increased revenue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327" y="588317"/>
            <a:ext cx="12034998" cy="72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499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Project Scope and Dataset Justification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327" y="1702742"/>
            <a:ext cx="16669345" cy="4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This project addresses e-commerce analytics challenges using the Olist dataset, supporting evidence-based decision-making.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09328" y="2711351"/>
            <a:ext cx="6329214" cy="6329214"/>
            <a:chOff x="0" y="0"/>
            <a:chExt cx="8438952" cy="843895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438896" cy="8438896"/>
            </a:xfrm>
            <a:custGeom>
              <a:avLst/>
              <a:gdLst/>
              <a:ahLst/>
              <a:cxnLst/>
              <a:rect l="l" t="t" r="r" b="b"/>
              <a:pathLst>
                <a:path w="8438896" h="8438896">
                  <a:moveTo>
                    <a:pt x="0" y="0"/>
                  </a:moveTo>
                  <a:lnTo>
                    <a:pt x="8438896" y="0"/>
                  </a:lnTo>
                  <a:lnTo>
                    <a:pt x="8438896" y="8438896"/>
                  </a:lnTo>
                  <a:lnTo>
                    <a:pt x="0" y="8438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12125" y="2653754"/>
            <a:ext cx="3468886" cy="46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The Olist 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2125" y="3261271"/>
            <a:ext cx="9775924" cy="4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Source: Brazilian E-Commerce Public Dataset by Olist (Kaggle).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2125" y="3712071"/>
            <a:ext cx="9775924" cy="4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Content: Over 100,000 orders from 2016-2018 across multiple Brazilian marketplaces.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12125" y="4162871"/>
            <a:ext cx="9775924" cy="82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Data Volume: 9 CSV files (approx. 100MB), 15,000+ records, mixed data types (timestamps, categorical, numeric).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12125" y="4983659"/>
            <a:ext cx="9775924" cy="82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Relevance: Covers the full e-commerce lifecycle (customer, product, payment, review, delivery logistics).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2125" y="6628507"/>
            <a:ext cx="16669345" cy="720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 transactional nature and public availability justify its use for demonstrating </a:t>
            </a:r>
          </a:p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scalable BI solutions, despite limitations like data anonymization.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29537" y="1049090"/>
            <a:ext cx="9405491" cy="82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Methodology and Tool Rationale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29538" y="2505224"/>
            <a:ext cx="9686925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 structured approach using industry-standard tools for scalability and usability.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729537" y="3300561"/>
            <a:ext cx="4718894" cy="3031777"/>
            <a:chOff x="0" y="0"/>
            <a:chExt cx="6291858" cy="40423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91834" cy="4042410"/>
            </a:xfrm>
            <a:custGeom>
              <a:avLst/>
              <a:gdLst/>
              <a:ahLst/>
              <a:cxnLst/>
              <a:rect l="l" t="t" r="r" b="b"/>
              <a:pathLst>
                <a:path w="6291834" h="404241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08954" y="0"/>
                  </a:lnTo>
                  <a:cubicBezTo>
                    <a:pt x="6209919" y="0"/>
                    <a:pt x="6291834" y="81915"/>
                    <a:pt x="6291834" y="182880"/>
                  </a:cubicBezTo>
                  <a:lnTo>
                    <a:pt x="6291834" y="3859530"/>
                  </a:lnTo>
                  <a:cubicBezTo>
                    <a:pt x="6291834" y="3960495"/>
                    <a:pt x="6209919" y="4042410"/>
                    <a:pt x="6108954" y="4042410"/>
                  </a:cubicBezTo>
                  <a:lnTo>
                    <a:pt x="182880" y="4042410"/>
                  </a:lnTo>
                  <a:cubicBezTo>
                    <a:pt x="81915" y="4042410"/>
                    <a:pt x="0" y="3960495"/>
                    <a:pt x="0" y="385953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7729537" y="3271986"/>
            <a:ext cx="4718894" cy="114300"/>
            <a:chOff x="0" y="0"/>
            <a:chExt cx="6291858" cy="152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291834" cy="152400"/>
            </a:xfrm>
            <a:custGeom>
              <a:avLst/>
              <a:gdLst/>
              <a:ahLst/>
              <a:cxnLst/>
              <a:rect l="l" t="t" r="r" b="b"/>
              <a:pathLst>
                <a:path w="6291834" h="152400">
                  <a:moveTo>
                    <a:pt x="0" y="0"/>
                  </a:moveTo>
                  <a:lnTo>
                    <a:pt x="6291834" y="0"/>
                  </a:lnTo>
                  <a:lnTo>
                    <a:pt x="629183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2" b="-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715351" y="2927002"/>
            <a:ext cx="747117" cy="747117"/>
            <a:chOff x="0" y="0"/>
            <a:chExt cx="996157" cy="996157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96188" cy="996188"/>
            </a:xfrm>
            <a:custGeom>
              <a:avLst/>
              <a:gdLst/>
              <a:ahLst/>
              <a:cxnLst/>
              <a:rect l="l" t="t" r="r" b="b"/>
              <a:pathLst>
                <a:path w="996188" h="996188">
                  <a:moveTo>
                    <a:pt x="0" y="0"/>
                  </a:moveTo>
                  <a:lnTo>
                    <a:pt x="996188" y="0"/>
                  </a:lnTo>
                  <a:lnTo>
                    <a:pt x="996188" y="996188"/>
                  </a:lnTo>
                  <a:lnTo>
                    <a:pt x="0" y="99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939486" y="3151138"/>
            <a:ext cx="298848" cy="298847"/>
          </a:xfrm>
          <a:custGeom>
            <a:avLst/>
            <a:gdLst/>
            <a:ahLst/>
            <a:cxnLst/>
            <a:rect l="l" t="t" r="r" b="b"/>
            <a:pathLst>
              <a:path w="298848" h="298847">
                <a:moveTo>
                  <a:pt x="0" y="0"/>
                </a:moveTo>
                <a:lnTo>
                  <a:pt x="298848" y="0"/>
                </a:lnTo>
                <a:lnTo>
                  <a:pt x="298848" y="298847"/>
                </a:lnTo>
                <a:lnTo>
                  <a:pt x="0" y="298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250" r="-62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007102" y="3655070"/>
            <a:ext cx="4111377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Data Warehouse: Snowflake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07102" y="4366469"/>
            <a:ext cx="4163765" cy="168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Selected for cloud-based architecture, elastic scaling, strong security, and efficient handling of large datasets.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697420" y="3300561"/>
            <a:ext cx="4719042" cy="3031777"/>
            <a:chOff x="0" y="0"/>
            <a:chExt cx="6292057" cy="40423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92088" cy="4042410"/>
            </a:xfrm>
            <a:custGeom>
              <a:avLst/>
              <a:gdLst/>
              <a:ahLst/>
              <a:cxnLst/>
              <a:rect l="l" t="t" r="r" b="b"/>
              <a:pathLst>
                <a:path w="6292088" h="404241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09208" y="0"/>
                  </a:lnTo>
                  <a:cubicBezTo>
                    <a:pt x="6210173" y="0"/>
                    <a:pt x="6292088" y="81915"/>
                    <a:pt x="6292088" y="182880"/>
                  </a:cubicBezTo>
                  <a:lnTo>
                    <a:pt x="6292088" y="3859530"/>
                  </a:lnTo>
                  <a:cubicBezTo>
                    <a:pt x="6292088" y="3960495"/>
                    <a:pt x="6210173" y="4042410"/>
                    <a:pt x="6109208" y="4042410"/>
                  </a:cubicBezTo>
                  <a:lnTo>
                    <a:pt x="182880" y="4042410"/>
                  </a:lnTo>
                  <a:cubicBezTo>
                    <a:pt x="81915" y="4042410"/>
                    <a:pt x="0" y="3960495"/>
                    <a:pt x="0" y="385953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2697420" y="3271986"/>
            <a:ext cx="4719042" cy="114300"/>
            <a:chOff x="0" y="0"/>
            <a:chExt cx="6292057" cy="1524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6292088" cy="152400"/>
            </a:xfrm>
            <a:custGeom>
              <a:avLst/>
              <a:gdLst/>
              <a:ahLst/>
              <a:cxnLst/>
              <a:rect l="l" t="t" r="r" b="b"/>
              <a:pathLst>
                <a:path w="6292088" h="152400">
                  <a:moveTo>
                    <a:pt x="0" y="0"/>
                  </a:moveTo>
                  <a:lnTo>
                    <a:pt x="6292088" y="0"/>
                  </a:lnTo>
                  <a:lnTo>
                    <a:pt x="6292088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4"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4683382" y="2927002"/>
            <a:ext cx="747118" cy="747117"/>
            <a:chOff x="0" y="0"/>
            <a:chExt cx="996157" cy="996157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996188" cy="996188"/>
            </a:xfrm>
            <a:custGeom>
              <a:avLst/>
              <a:gdLst/>
              <a:ahLst/>
              <a:cxnLst/>
              <a:rect l="l" t="t" r="r" b="b"/>
              <a:pathLst>
                <a:path w="996188" h="996188">
                  <a:moveTo>
                    <a:pt x="0" y="0"/>
                  </a:moveTo>
                  <a:lnTo>
                    <a:pt x="996188" y="0"/>
                  </a:lnTo>
                  <a:lnTo>
                    <a:pt x="996188" y="996188"/>
                  </a:lnTo>
                  <a:lnTo>
                    <a:pt x="0" y="99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14907517" y="3151138"/>
            <a:ext cx="298848" cy="298847"/>
          </a:xfrm>
          <a:custGeom>
            <a:avLst/>
            <a:gdLst/>
            <a:ahLst/>
            <a:cxnLst/>
            <a:rect l="l" t="t" r="r" b="b"/>
            <a:pathLst>
              <a:path w="298848" h="298847">
                <a:moveTo>
                  <a:pt x="0" y="0"/>
                </a:moveTo>
                <a:lnTo>
                  <a:pt x="298848" y="0"/>
                </a:lnTo>
                <a:lnTo>
                  <a:pt x="298848" y="298847"/>
                </a:lnTo>
                <a:lnTo>
                  <a:pt x="0" y="2988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250" b="-62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2974985" y="3655070"/>
            <a:ext cx="3180160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ETL: Python (Pandas)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74985" y="4366469"/>
            <a:ext cx="4163914" cy="168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Chosen for flexible scripting, robust open-source libraries, and efficient data manipulation (cleaning, transformation).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729537" y="6954888"/>
            <a:ext cx="9686925" cy="2235250"/>
            <a:chOff x="0" y="0"/>
            <a:chExt cx="12915900" cy="298033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915900" cy="2980309"/>
            </a:xfrm>
            <a:custGeom>
              <a:avLst/>
              <a:gdLst/>
              <a:ahLst/>
              <a:cxnLst/>
              <a:rect l="l" t="t" r="r" b="b"/>
              <a:pathLst>
                <a:path w="12915900" h="2980309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733020" y="0"/>
                  </a:lnTo>
                  <a:cubicBezTo>
                    <a:pt x="12833986" y="0"/>
                    <a:pt x="12915900" y="81915"/>
                    <a:pt x="12915900" y="182880"/>
                  </a:cubicBezTo>
                  <a:lnTo>
                    <a:pt x="12915900" y="2797429"/>
                  </a:lnTo>
                  <a:cubicBezTo>
                    <a:pt x="12915900" y="2898394"/>
                    <a:pt x="12833986" y="2980309"/>
                    <a:pt x="12733020" y="2980309"/>
                  </a:cubicBezTo>
                  <a:lnTo>
                    <a:pt x="182880" y="2980309"/>
                  </a:lnTo>
                  <a:cubicBezTo>
                    <a:pt x="81915" y="2980309"/>
                    <a:pt x="0" y="2898394"/>
                    <a:pt x="0" y="27974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7729537" y="6926312"/>
            <a:ext cx="9686925" cy="114300"/>
            <a:chOff x="0" y="0"/>
            <a:chExt cx="12915900" cy="15240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12915900" cy="152400"/>
            </a:xfrm>
            <a:custGeom>
              <a:avLst/>
              <a:gdLst/>
              <a:ahLst/>
              <a:cxnLst/>
              <a:rect l="l" t="t" r="r" b="b"/>
              <a:pathLst>
                <a:path w="12915900" h="152400">
                  <a:moveTo>
                    <a:pt x="0" y="0"/>
                  </a:moveTo>
                  <a:lnTo>
                    <a:pt x="12915900" y="0"/>
                  </a:lnTo>
                  <a:lnTo>
                    <a:pt x="129159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12199441" y="6581329"/>
            <a:ext cx="747118" cy="747117"/>
            <a:chOff x="0" y="0"/>
            <a:chExt cx="996157" cy="996157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996188" cy="996188"/>
            </a:xfrm>
            <a:custGeom>
              <a:avLst/>
              <a:gdLst/>
              <a:ahLst/>
              <a:cxnLst/>
              <a:rect l="l" t="t" r="r" b="b"/>
              <a:pathLst>
                <a:path w="996188" h="996188">
                  <a:moveTo>
                    <a:pt x="0" y="0"/>
                  </a:moveTo>
                  <a:lnTo>
                    <a:pt x="996188" y="0"/>
                  </a:lnTo>
                  <a:lnTo>
                    <a:pt x="996188" y="996188"/>
                  </a:lnTo>
                  <a:lnTo>
                    <a:pt x="0" y="99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 descr="preencoded.png"/>
          <p:cNvSpPr/>
          <p:nvPr/>
        </p:nvSpPr>
        <p:spPr>
          <a:xfrm>
            <a:off x="12423576" y="6805464"/>
            <a:ext cx="298848" cy="298848"/>
          </a:xfrm>
          <a:custGeom>
            <a:avLst/>
            <a:gdLst/>
            <a:ahLst/>
            <a:cxnLst/>
            <a:rect l="l" t="t" r="r" b="b"/>
            <a:pathLst>
              <a:path w="298848" h="298848">
                <a:moveTo>
                  <a:pt x="0" y="0"/>
                </a:moveTo>
                <a:lnTo>
                  <a:pt x="298848" y="0"/>
                </a:lnTo>
                <a:lnTo>
                  <a:pt x="298848" y="298847"/>
                </a:lnTo>
                <a:lnTo>
                  <a:pt x="0" y="2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8007102" y="7250162"/>
            <a:ext cx="3280470" cy="40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Visualization: Power BI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07102" y="8020794"/>
            <a:ext cx="9131796" cy="89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Used for interactive dashboards, native Snowflake integration, and DAX measures (e.g., Gross Merchandise Value).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2019" y="876449"/>
            <a:ext cx="12730162" cy="86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Data Storage Evaluation: Why Snowflake?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2494" y="2438846"/>
            <a:ext cx="16463962" cy="50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Comparing storage methods for handling the Olist dataset, prioritizing scalability and integrity for analytics.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7256" y="2964805"/>
            <a:ext cx="16473487" cy="4689873"/>
            <a:chOff x="0" y="0"/>
            <a:chExt cx="21964650" cy="62531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4650" cy="6253226"/>
            </a:xfrm>
            <a:custGeom>
              <a:avLst/>
              <a:gdLst/>
              <a:ahLst/>
              <a:cxnLst/>
              <a:rect l="l" t="t" r="r" b="b"/>
              <a:pathLst>
                <a:path w="21964650" h="6253226">
                  <a:moveTo>
                    <a:pt x="0" y="152273"/>
                  </a:moveTo>
                  <a:cubicBezTo>
                    <a:pt x="0" y="68199"/>
                    <a:pt x="68326" y="0"/>
                    <a:pt x="152527" y="0"/>
                  </a:cubicBezTo>
                  <a:lnTo>
                    <a:pt x="21812123" y="0"/>
                  </a:lnTo>
                  <a:lnTo>
                    <a:pt x="21812123" y="6350"/>
                  </a:lnTo>
                  <a:lnTo>
                    <a:pt x="21812123" y="0"/>
                  </a:lnTo>
                  <a:cubicBezTo>
                    <a:pt x="21896324" y="0"/>
                    <a:pt x="21964650" y="68199"/>
                    <a:pt x="21964650" y="152273"/>
                  </a:cubicBezTo>
                  <a:lnTo>
                    <a:pt x="21958300" y="152273"/>
                  </a:lnTo>
                  <a:lnTo>
                    <a:pt x="21964650" y="152273"/>
                  </a:lnTo>
                  <a:lnTo>
                    <a:pt x="21964650" y="6100826"/>
                  </a:lnTo>
                  <a:lnTo>
                    <a:pt x="21958300" y="6100826"/>
                  </a:lnTo>
                  <a:lnTo>
                    <a:pt x="21964650" y="6100826"/>
                  </a:lnTo>
                  <a:cubicBezTo>
                    <a:pt x="21964650" y="6184900"/>
                    <a:pt x="21896324" y="6253099"/>
                    <a:pt x="21812123" y="6253099"/>
                  </a:cubicBezTo>
                  <a:lnTo>
                    <a:pt x="21812123" y="6246749"/>
                  </a:lnTo>
                  <a:lnTo>
                    <a:pt x="21812123" y="6253099"/>
                  </a:lnTo>
                  <a:lnTo>
                    <a:pt x="152527" y="6253099"/>
                  </a:lnTo>
                  <a:lnTo>
                    <a:pt x="152527" y="6246749"/>
                  </a:lnTo>
                  <a:lnTo>
                    <a:pt x="152527" y="6253099"/>
                  </a:lnTo>
                  <a:cubicBezTo>
                    <a:pt x="68326" y="6253226"/>
                    <a:pt x="0" y="6185027"/>
                    <a:pt x="0" y="6100826"/>
                  </a:cubicBezTo>
                  <a:lnTo>
                    <a:pt x="0" y="152273"/>
                  </a:lnTo>
                  <a:lnTo>
                    <a:pt x="6350" y="152273"/>
                  </a:lnTo>
                  <a:lnTo>
                    <a:pt x="0" y="152273"/>
                  </a:lnTo>
                  <a:moveTo>
                    <a:pt x="12700" y="152273"/>
                  </a:moveTo>
                  <a:lnTo>
                    <a:pt x="12700" y="6100826"/>
                  </a:lnTo>
                  <a:lnTo>
                    <a:pt x="6350" y="6100826"/>
                  </a:lnTo>
                  <a:lnTo>
                    <a:pt x="12700" y="6100826"/>
                  </a:lnTo>
                  <a:cubicBezTo>
                    <a:pt x="12700" y="6177915"/>
                    <a:pt x="75311" y="6240399"/>
                    <a:pt x="152527" y="6240399"/>
                  </a:cubicBezTo>
                  <a:lnTo>
                    <a:pt x="21812123" y="6240399"/>
                  </a:lnTo>
                  <a:cubicBezTo>
                    <a:pt x="21889338" y="6240399"/>
                    <a:pt x="21951950" y="6177915"/>
                    <a:pt x="21951950" y="6100826"/>
                  </a:cubicBezTo>
                  <a:lnTo>
                    <a:pt x="21951950" y="152273"/>
                  </a:lnTo>
                  <a:cubicBezTo>
                    <a:pt x="21951950" y="75184"/>
                    <a:pt x="21889338" y="12700"/>
                    <a:pt x="21812123" y="12700"/>
                  </a:cubicBezTo>
                  <a:lnTo>
                    <a:pt x="152527" y="12700"/>
                  </a:lnTo>
                  <a:lnTo>
                    <a:pt x="152527" y="6350"/>
                  </a:lnTo>
                  <a:lnTo>
                    <a:pt x="152527" y="12700"/>
                  </a:lnTo>
                  <a:cubicBezTo>
                    <a:pt x="75311" y="12700"/>
                    <a:pt x="12700" y="75184"/>
                    <a:pt x="12700" y="15227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1544" y="2979092"/>
            <a:ext cx="16444912" cy="748456"/>
            <a:chOff x="0" y="0"/>
            <a:chExt cx="21926550" cy="9979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26550" cy="997966"/>
            </a:xfrm>
            <a:custGeom>
              <a:avLst/>
              <a:gdLst/>
              <a:ahLst/>
              <a:cxnLst/>
              <a:rect l="l" t="t" r="r" b="b"/>
              <a:pathLst>
                <a:path w="21926550" h="997966">
                  <a:moveTo>
                    <a:pt x="0" y="0"/>
                  </a:moveTo>
                  <a:lnTo>
                    <a:pt x="21926550" y="0"/>
                  </a:lnTo>
                  <a:lnTo>
                    <a:pt x="21926550" y="997966"/>
                  </a:lnTo>
                  <a:lnTo>
                    <a:pt x="0" y="99796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2141" y="3059162"/>
            <a:ext cx="3585270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Method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98132" y="3059162"/>
            <a:ext cx="3580508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Scalability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9360" y="3059162"/>
            <a:ext cx="3580507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Integrity Risks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0589" y="3059162"/>
            <a:ext cx="3585270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Rationale for Olist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1544" y="3727549"/>
            <a:ext cx="16444912" cy="1165324"/>
            <a:chOff x="0" y="0"/>
            <a:chExt cx="21926550" cy="15537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26550" cy="1553718"/>
            </a:xfrm>
            <a:custGeom>
              <a:avLst/>
              <a:gdLst/>
              <a:ahLst/>
              <a:cxnLst/>
              <a:rect l="l" t="t" r="r" b="b"/>
              <a:pathLst>
                <a:path w="21926550" h="1553718">
                  <a:moveTo>
                    <a:pt x="0" y="0"/>
                  </a:moveTo>
                  <a:lnTo>
                    <a:pt x="21926550" y="0"/>
                  </a:lnTo>
                  <a:lnTo>
                    <a:pt x="21926550" y="1553718"/>
                  </a:lnTo>
                  <a:lnTo>
                    <a:pt x="0" y="1553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82141" y="3807619"/>
            <a:ext cx="3585270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Relational DB (PostgreSQL)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98132" y="3807619"/>
            <a:ext cx="3580508" cy="5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Medium (Vertical)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09360" y="3807619"/>
            <a:ext cx="3580507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Duplicates, weak referential integrity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20589" y="3807619"/>
            <a:ext cx="3585270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Scaling problems for 100k+ records.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1544" y="4892874"/>
            <a:ext cx="16444912" cy="1165324"/>
            <a:chOff x="0" y="0"/>
            <a:chExt cx="21926550" cy="15537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26550" cy="1553718"/>
            </a:xfrm>
            <a:custGeom>
              <a:avLst/>
              <a:gdLst/>
              <a:ahLst/>
              <a:cxnLst/>
              <a:rect l="l" t="t" r="r" b="b"/>
              <a:pathLst>
                <a:path w="21926550" h="1553718">
                  <a:moveTo>
                    <a:pt x="0" y="0"/>
                  </a:moveTo>
                  <a:lnTo>
                    <a:pt x="21926550" y="0"/>
                  </a:lnTo>
                  <a:lnTo>
                    <a:pt x="21926550" y="1553718"/>
                  </a:lnTo>
                  <a:lnTo>
                    <a:pt x="0" y="15537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82141" y="4972943"/>
            <a:ext cx="3585270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Data Warehouse (Snowflake)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8132" y="4972943"/>
            <a:ext cx="3580508" cy="50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High (Elastic, Multi-cluster)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09360" y="4972943"/>
            <a:ext cx="3580507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Data loading errors, version conflicts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20589" y="4972943"/>
            <a:ext cx="3585270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Optimized for analytics, parallel processing, security.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1544" y="6058197"/>
            <a:ext cx="16444912" cy="1582191"/>
            <a:chOff x="0" y="0"/>
            <a:chExt cx="21926550" cy="21095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26550" cy="2109597"/>
            </a:xfrm>
            <a:custGeom>
              <a:avLst/>
              <a:gdLst/>
              <a:ahLst/>
              <a:cxnLst/>
              <a:rect l="l" t="t" r="r" b="b"/>
              <a:pathLst>
                <a:path w="21926550" h="2109597">
                  <a:moveTo>
                    <a:pt x="0" y="0"/>
                  </a:moveTo>
                  <a:lnTo>
                    <a:pt x="21926550" y="0"/>
                  </a:lnTo>
                  <a:lnTo>
                    <a:pt x="21926550" y="2109597"/>
                  </a:lnTo>
                  <a:lnTo>
                    <a:pt x="0" y="2109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82141" y="6138267"/>
            <a:ext cx="3585270" cy="50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Cloud Storage (AWS S3)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98132" y="6138267"/>
            <a:ext cx="3580508" cy="50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High (Infinite)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9360" y="6138267"/>
            <a:ext cx="3580507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File corruption, no built-in validation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20589" y="6138267"/>
            <a:ext cx="3585270" cy="133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Ideal for initial storage, but not for direct querying/analytics.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2841" y="8150275"/>
            <a:ext cx="16073140" cy="91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Snowflake minimizes integrity risks with automated backups and enhances security with certifications like SOC 2, ensuring a secure, scalable solution for Olist-like platforms.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12019" y="7942958"/>
            <a:ext cx="28575" cy="1419820"/>
            <a:chOff x="0" y="0"/>
            <a:chExt cx="38100" cy="189309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100" cy="1893062"/>
            </a:xfrm>
            <a:custGeom>
              <a:avLst/>
              <a:gdLst/>
              <a:ahLst/>
              <a:cxnLst/>
              <a:rect l="l" t="t" r="r" b="b"/>
              <a:pathLst>
                <a:path w="38100" h="1893062">
                  <a:moveTo>
                    <a:pt x="0" y="0"/>
                  </a:moveTo>
                  <a:lnTo>
                    <a:pt x="38100" y="0"/>
                  </a:lnTo>
                  <a:lnTo>
                    <a:pt x="38100" y="1893062"/>
                  </a:lnTo>
                  <a:lnTo>
                    <a:pt x="0" y="1893062"/>
                  </a:ln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178"/>
            <a:ext cx="18288000" cy="10379122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6044" y="351681"/>
            <a:ext cx="745658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Technical Implementation: DW Design &amp; ETL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044" y="1125736"/>
            <a:ext cx="17295911" cy="21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 solution uses a snowflake schema in Snowflake, with Python managing the ETL pipeline.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284294" y="2026175"/>
            <a:ext cx="13363278" cy="7571899"/>
            <a:chOff x="0" y="0"/>
            <a:chExt cx="17817703" cy="1009586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7817719" cy="10095865"/>
            </a:xfrm>
            <a:custGeom>
              <a:avLst/>
              <a:gdLst/>
              <a:ahLst/>
              <a:cxnLst/>
              <a:rect l="l" t="t" r="r" b="b"/>
              <a:pathLst>
                <a:path w="17817719" h="10095865">
                  <a:moveTo>
                    <a:pt x="0" y="0"/>
                  </a:moveTo>
                  <a:lnTo>
                    <a:pt x="17817719" y="0"/>
                  </a:lnTo>
                  <a:lnTo>
                    <a:pt x="17817719" y="10095865"/>
                  </a:lnTo>
                  <a:lnTo>
                    <a:pt x="0" y="10095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820" b="-108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92965" y="6786850"/>
            <a:ext cx="3651779" cy="9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Extract9 CSVs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4356696" y="4886641"/>
            <a:ext cx="864774" cy="864774"/>
          </a:xfrm>
          <a:custGeom>
            <a:avLst/>
            <a:gdLst/>
            <a:ahLst/>
            <a:cxnLst/>
            <a:rect l="l" t="t" r="r" b="b"/>
            <a:pathLst>
              <a:path w="864774" h="864774">
                <a:moveTo>
                  <a:pt x="0" y="0"/>
                </a:moveTo>
                <a:lnTo>
                  <a:pt x="864774" y="0"/>
                </a:lnTo>
                <a:lnTo>
                  <a:pt x="864774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087" b="-120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44744" y="3129904"/>
            <a:ext cx="3770415" cy="99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TransformPython ETL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090192" y="5413884"/>
            <a:ext cx="864774" cy="864774"/>
          </a:xfrm>
          <a:custGeom>
            <a:avLst/>
            <a:gdLst/>
            <a:ahLst/>
            <a:cxnLst/>
            <a:rect l="l" t="t" r="r" b="b"/>
            <a:pathLst>
              <a:path w="864774" h="864774">
                <a:moveTo>
                  <a:pt x="0" y="0"/>
                </a:moveTo>
                <a:lnTo>
                  <a:pt x="864774" y="0"/>
                </a:lnTo>
                <a:lnTo>
                  <a:pt x="864774" y="864773"/>
                </a:lnTo>
                <a:lnTo>
                  <a:pt x="0" y="8647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8791" b="-87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862845" y="7859710"/>
            <a:ext cx="3651778" cy="99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Clean • Merge • Validate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823959" y="5941126"/>
            <a:ext cx="864775" cy="864774"/>
          </a:xfrm>
          <a:custGeom>
            <a:avLst/>
            <a:gdLst/>
            <a:ahLst/>
            <a:cxnLst/>
            <a:rect l="l" t="t" r="r" b="b"/>
            <a:pathLst>
              <a:path w="864775" h="864774">
                <a:moveTo>
                  <a:pt x="0" y="0"/>
                </a:moveTo>
                <a:lnTo>
                  <a:pt x="864775" y="0"/>
                </a:lnTo>
                <a:lnTo>
                  <a:pt x="864775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7033" b="-17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13612" y="4391005"/>
            <a:ext cx="3651779" cy="50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Load to Snowflake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2733382" y="6507282"/>
            <a:ext cx="864774" cy="864774"/>
          </a:xfrm>
          <a:custGeom>
            <a:avLst/>
            <a:gdLst/>
            <a:ahLst/>
            <a:cxnLst/>
            <a:rect l="l" t="t" r="r" b="b"/>
            <a:pathLst>
              <a:path w="864774" h="864774">
                <a:moveTo>
                  <a:pt x="0" y="0"/>
                </a:moveTo>
                <a:lnTo>
                  <a:pt x="864774" y="0"/>
                </a:lnTo>
                <a:lnTo>
                  <a:pt x="864774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7692" b="-769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79532" y="2711321"/>
            <a:ext cx="283518" cy="17319"/>
            <a:chOff x="0" y="0"/>
            <a:chExt cx="378023" cy="230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8079" cy="23114"/>
            </a:xfrm>
            <a:custGeom>
              <a:avLst/>
              <a:gdLst/>
              <a:ahLst/>
              <a:cxnLst/>
              <a:rect l="l" t="t" r="r" b="b"/>
              <a:pathLst>
                <a:path w="378079" h="23114">
                  <a:moveTo>
                    <a:pt x="0" y="11557"/>
                  </a:moveTo>
                  <a:cubicBezTo>
                    <a:pt x="0" y="5207"/>
                    <a:pt x="5207" y="0"/>
                    <a:pt x="11557" y="0"/>
                  </a:cubicBezTo>
                  <a:lnTo>
                    <a:pt x="366522" y="0"/>
                  </a:lnTo>
                  <a:cubicBezTo>
                    <a:pt x="372872" y="0"/>
                    <a:pt x="378079" y="5207"/>
                    <a:pt x="378079" y="11557"/>
                  </a:cubicBezTo>
                  <a:cubicBezTo>
                    <a:pt x="378079" y="17907"/>
                    <a:pt x="372872" y="23114"/>
                    <a:pt x="366522" y="23114"/>
                  </a:cubicBezTo>
                  <a:lnTo>
                    <a:pt x="11557" y="23114"/>
                  </a:lnTo>
                  <a:cubicBezTo>
                    <a:pt x="5207" y="23114"/>
                    <a:pt x="0" y="17907"/>
                    <a:pt x="0" y="11557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095699" y="2671679"/>
            <a:ext cx="96604" cy="96604"/>
            <a:chOff x="0" y="0"/>
            <a:chExt cx="128805" cy="12880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28778" cy="128778"/>
            </a:xfrm>
            <a:custGeom>
              <a:avLst/>
              <a:gdLst/>
              <a:ahLst/>
              <a:cxnLst/>
              <a:rect l="l" t="t" r="r" b="b"/>
              <a:pathLst>
                <a:path w="128778" h="128778">
                  <a:moveTo>
                    <a:pt x="0" y="0"/>
                  </a:moveTo>
                  <a:lnTo>
                    <a:pt x="128778" y="0"/>
                  </a:lnTo>
                  <a:lnTo>
                    <a:pt x="128778" y="128778"/>
                  </a:lnTo>
                  <a:lnTo>
                    <a:pt x="0" y="128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0" b="-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05017" y="2638369"/>
            <a:ext cx="1771947" cy="18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DW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6044" y="2925214"/>
            <a:ext cx="8080921" cy="8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Snowflake schema: </a:t>
            </a: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Fact_Order_Items</a:t>
            </a: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linked to dimension tables </a:t>
            </a:r>
          </a:p>
          <a:p>
            <a:pPr algn="r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(Dim_Orders, Dim_Products, etc.) for referential integrity.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24950" y="3561008"/>
            <a:ext cx="283518" cy="19050"/>
            <a:chOff x="0" y="0"/>
            <a:chExt cx="378023" cy="25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8079" cy="25400"/>
            </a:xfrm>
            <a:custGeom>
              <a:avLst/>
              <a:gdLst/>
              <a:ahLst/>
              <a:cxnLst/>
              <a:rect l="l" t="t" r="r" b="b"/>
              <a:pathLst>
                <a:path w="37807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365379" y="0"/>
                  </a:lnTo>
                  <a:cubicBezTo>
                    <a:pt x="372364" y="0"/>
                    <a:pt x="378079" y="5715"/>
                    <a:pt x="378079" y="12700"/>
                  </a:cubicBezTo>
                  <a:cubicBezTo>
                    <a:pt x="378079" y="19685"/>
                    <a:pt x="372364" y="25400"/>
                    <a:pt x="36537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090869" y="3517401"/>
            <a:ext cx="106264" cy="106264"/>
            <a:chOff x="0" y="0"/>
            <a:chExt cx="141685" cy="141685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41732" cy="141732"/>
            </a:xfrm>
            <a:custGeom>
              <a:avLst/>
              <a:gdLst/>
              <a:ahLst/>
              <a:cxnLst/>
              <a:rect l="l" t="t" r="r" b="b"/>
              <a:pathLst>
                <a:path w="141732" h="141732">
                  <a:moveTo>
                    <a:pt x="0" y="0"/>
                  </a:moveTo>
                  <a:lnTo>
                    <a:pt x="141732" y="0"/>
                  </a:lnTo>
                  <a:lnTo>
                    <a:pt x="141732" y="141732"/>
                  </a:lnTo>
                  <a:lnTo>
                    <a:pt x="0" y="14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3" b="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711035" y="3478855"/>
            <a:ext cx="1771948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Extraction &amp; Loading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879532" y="4294135"/>
            <a:ext cx="283518" cy="19050"/>
            <a:chOff x="0" y="0"/>
            <a:chExt cx="378023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8079" cy="25400"/>
            </a:xfrm>
            <a:custGeom>
              <a:avLst/>
              <a:gdLst/>
              <a:ahLst/>
              <a:cxnLst/>
              <a:rect l="l" t="t" r="r" b="b"/>
              <a:pathLst>
                <a:path w="37807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365379" y="0"/>
                  </a:lnTo>
                  <a:cubicBezTo>
                    <a:pt x="372364" y="0"/>
                    <a:pt x="378079" y="5715"/>
                    <a:pt x="378079" y="12700"/>
                  </a:cubicBezTo>
                  <a:cubicBezTo>
                    <a:pt x="378079" y="19685"/>
                    <a:pt x="372364" y="25400"/>
                    <a:pt x="36537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090869" y="4250529"/>
            <a:ext cx="106264" cy="106264"/>
            <a:chOff x="0" y="0"/>
            <a:chExt cx="141685" cy="141685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41732" cy="141732"/>
            </a:xfrm>
            <a:custGeom>
              <a:avLst/>
              <a:gdLst/>
              <a:ahLst/>
              <a:cxnLst/>
              <a:rect l="l" t="t" r="r" b="b"/>
              <a:pathLst>
                <a:path w="141732" h="141732">
                  <a:moveTo>
                    <a:pt x="0" y="0"/>
                  </a:moveTo>
                  <a:lnTo>
                    <a:pt x="141732" y="0"/>
                  </a:lnTo>
                  <a:lnTo>
                    <a:pt x="141732" y="141732"/>
                  </a:lnTo>
                  <a:lnTo>
                    <a:pt x="0" y="14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3" b="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05017" y="4211982"/>
            <a:ext cx="1771947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Transformation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25214" y="4508894"/>
            <a:ext cx="6751751" cy="103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Cleaning (duplicates, nulls, invalid data), type conversion, and </a:t>
            </a:r>
          </a:p>
          <a:p>
            <a:pPr algn="r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integration (merging products with translations).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24950" y="5027262"/>
            <a:ext cx="283518" cy="19050"/>
            <a:chOff x="0" y="0"/>
            <a:chExt cx="378023" cy="25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8079" cy="25400"/>
            </a:xfrm>
            <a:custGeom>
              <a:avLst/>
              <a:gdLst/>
              <a:ahLst/>
              <a:cxnLst/>
              <a:rect l="l" t="t" r="r" b="b"/>
              <a:pathLst>
                <a:path w="37807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365379" y="0"/>
                  </a:lnTo>
                  <a:cubicBezTo>
                    <a:pt x="372364" y="0"/>
                    <a:pt x="378079" y="5715"/>
                    <a:pt x="378079" y="12700"/>
                  </a:cubicBezTo>
                  <a:cubicBezTo>
                    <a:pt x="378079" y="19685"/>
                    <a:pt x="372364" y="25400"/>
                    <a:pt x="36537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9090869" y="4983656"/>
            <a:ext cx="106264" cy="106264"/>
            <a:chOff x="0" y="0"/>
            <a:chExt cx="141685" cy="141685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141732" cy="141732"/>
            </a:xfrm>
            <a:custGeom>
              <a:avLst/>
              <a:gdLst/>
              <a:ahLst/>
              <a:cxnLst/>
              <a:rect l="l" t="t" r="r" b="b"/>
              <a:pathLst>
                <a:path w="141732" h="141732">
                  <a:moveTo>
                    <a:pt x="0" y="0"/>
                  </a:moveTo>
                  <a:lnTo>
                    <a:pt x="141732" y="0"/>
                  </a:lnTo>
                  <a:lnTo>
                    <a:pt x="141732" y="141732"/>
                  </a:lnTo>
                  <a:lnTo>
                    <a:pt x="0" y="14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3" b="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11035" y="4945110"/>
            <a:ext cx="1771948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Validation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34475" y="2184068"/>
            <a:ext cx="19050" cy="3499545"/>
            <a:chOff x="0" y="0"/>
            <a:chExt cx="25400" cy="46660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" cy="4666107"/>
            </a:xfrm>
            <a:custGeom>
              <a:avLst/>
              <a:gdLst/>
              <a:ahLst/>
              <a:cxnLst/>
              <a:rect l="l" t="t" r="r" b="b"/>
              <a:pathLst>
                <a:path w="25400" h="4666107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4653407"/>
                  </a:lnTo>
                  <a:cubicBezTo>
                    <a:pt x="25400" y="4660392"/>
                    <a:pt x="19685" y="4666107"/>
                    <a:pt x="12700" y="4666107"/>
                  </a:cubicBezTo>
                  <a:cubicBezTo>
                    <a:pt x="5715" y="4666107"/>
                    <a:pt x="0" y="4660392"/>
                    <a:pt x="0" y="4653407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11035" y="4050354"/>
            <a:ext cx="8080921" cy="497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Python extracts data from 9 CSVs into Pandas DataFrames;</a:t>
            </a:r>
          </a:p>
          <a:p>
            <a:pPr algn="l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Snowflake's </a:t>
            </a: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COPY INTO</a:t>
            </a: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used for efficient bulk loading.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11035" y="5322705"/>
            <a:ext cx="8080921" cy="65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Post-loading checks (row counts, null keys, referential integrity)</a:t>
            </a:r>
          </a:p>
          <a:p>
            <a:pPr algn="l">
              <a:lnSpc>
                <a:spcPts val="1750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ensure data quality before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3859" y="1091158"/>
            <a:ext cx="8997138" cy="57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Data Transformation Impact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2909" y="1775371"/>
            <a:ext cx="17020282" cy="32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ETL steps enhance data clarity, specificity, and strategic relevance for accurate insights.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2909" y="2339864"/>
            <a:ext cx="7336550" cy="55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1"/>
              </a:lnSpc>
            </a:pPr>
            <a:r>
              <a:rPr lang="en-US" sz="3417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Key Transformation Examples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3859" y="3003511"/>
            <a:ext cx="8289280" cy="32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249"/>
              </a:lnSpc>
              <a:buFont typeface="Arial"/>
              <a:buChar char="•"/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Imputing medians for missing product dimensions.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3859" y="3437216"/>
            <a:ext cx="8289280" cy="32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249"/>
              </a:lnSpc>
              <a:buFont typeface="Arial"/>
              <a:buChar char="•"/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Removing accents in city names (unicodedata).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3859" y="3830579"/>
            <a:ext cx="8289280" cy="32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249"/>
              </a:lnSpc>
              <a:buFont typeface="Arial"/>
              <a:buChar char="•"/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Merging products with English category translations.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859" y="4250838"/>
            <a:ext cx="8289280" cy="32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249"/>
              </a:lnSpc>
              <a:buFont typeface="Arial"/>
              <a:buChar char="•"/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Creating custom columns in Power BI (e.g., </a:t>
            </a: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Delivery_Delay_Days</a:t>
            </a: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764364" y="91166"/>
            <a:ext cx="8289280" cy="8289280"/>
            <a:chOff x="0" y="0"/>
            <a:chExt cx="11052373" cy="1105237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1052429" cy="11052429"/>
            </a:xfrm>
            <a:custGeom>
              <a:avLst/>
              <a:gdLst/>
              <a:ahLst/>
              <a:cxnLst/>
              <a:rect l="l" t="t" r="r" b="b"/>
              <a:pathLst>
                <a:path w="11052429" h="11052429">
                  <a:moveTo>
                    <a:pt x="0" y="0"/>
                  </a:moveTo>
                  <a:lnTo>
                    <a:pt x="11052429" y="0"/>
                  </a:lnTo>
                  <a:lnTo>
                    <a:pt x="11052429" y="11052429"/>
                  </a:lnTo>
                  <a:lnTo>
                    <a:pt x="0" y="11052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05470" y="8831851"/>
            <a:ext cx="16748671" cy="76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Without cleaning, duplicates or orphaned records would skew counts (e.g., inflated reviews). </a:t>
            </a:r>
          </a:p>
          <a:p>
            <a:pPr algn="l">
              <a:lnSpc>
                <a:spcPts val="2249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ETL increases data credibility, transforming 100k+ raw records into actionable visuals.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33859" y="8856977"/>
            <a:ext cx="19050" cy="697260"/>
            <a:chOff x="0" y="0"/>
            <a:chExt cx="25400" cy="929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400" cy="929640"/>
            </a:xfrm>
            <a:custGeom>
              <a:avLst/>
              <a:gdLst/>
              <a:ahLst/>
              <a:cxnLst/>
              <a:rect l="l" t="t" r="r" b="b"/>
              <a:pathLst>
                <a:path w="25400" h="929640">
                  <a:moveTo>
                    <a:pt x="0" y="0"/>
                  </a:moveTo>
                  <a:lnTo>
                    <a:pt x="25400" y="0"/>
                  </a:lnTo>
                  <a:lnTo>
                    <a:pt x="25400" y="929640"/>
                  </a:lnTo>
                  <a:lnTo>
                    <a:pt x="0" y="929640"/>
                  </a:ln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314896"/>
            <a:ext cx="11656962" cy="825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Risk Management and Mitigation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1762" y="2722586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Proactive strategies to ensure data integrity, system integration, and scalability.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5" y="3592860"/>
            <a:ext cx="16313051" cy="4100512"/>
            <a:chOff x="0" y="0"/>
            <a:chExt cx="21750735" cy="5467350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21737955" cy="5454650"/>
            </a:xfrm>
            <a:custGeom>
              <a:avLst/>
              <a:gdLst/>
              <a:ahLst/>
              <a:cxnLst/>
              <a:rect l="l" t="t" r="r" b="b"/>
              <a:pathLst>
                <a:path w="21737955" h="545465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21578951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5295900"/>
                  </a:lnTo>
                  <a:cubicBezTo>
                    <a:pt x="21737955" y="5383657"/>
                    <a:pt x="21666708" y="5454650"/>
                    <a:pt x="21578951" y="5454650"/>
                  </a:cubicBezTo>
                  <a:lnTo>
                    <a:pt x="159004" y="5454650"/>
                  </a:lnTo>
                  <a:cubicBezTo>
                    <a:pt x="71247" y="5454650"/>
                    <a:pt x="0" y="5383530"/>
                    <a:pt x="0" y="5295900"/>
                  </a:cubicBez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1750655" cy="5467350"/>
            </a:xfrm>
            <a:custGeom>
              <a:avLst/>
              <a:gdLst/>
              <a:ahLst/>
              <a:cxnLst/>
              <a:rect l="l" t="t" r="r" b="b"/>
              <a:pathLst>
                <a:path w="21750655" h="546735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5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5302250"/>
                  </a:lnTo>
                  <a:lnTo>
                    <a:pt x="21744305" y="5302250"/>
                  </a:lnTo>
                  <a:lnTo>
                    <a:pt x="21750655" y="5302250"/>
                  </a:lnTo>
                  <a:cubicBezTo>
                    <a:pt x="21750655" y="5393436"/>
                    <a:pt x="21676615" y="5467350"/>
                    <a:pt x="21585301" y="5467350"/>
                  </a:cubicBezTo>
                  <a:lnTo>
                    <a:pt x="21585301" y="5461000"/>
                  </a:lnTo>
                  <a:lnTo>
                    <a:pt x="21585301" y="5467350"/>
                  </a:lnTo>
                  <a:lnTo>
                    <a:pt x="165354" y="5467350"/>
                  </a:lnTo>
                  <a:lnTo>
                    <a:pt x="165354" y="5461000"/>
                  </a:lnTo>
                  <a:lnTo>
                    <a:pt x="165354" y="5467350"/>
                  </a:lnTo>
                  <a:cubicBezTo>
                    <a:pt x="74041" y="5467350"/>
                    <a:pt x="0" y="5393436"/>
                    <a:pt x="0" y="530225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02250"/>
                  </a:lnTo>
                  <a:lnTo>
                    <a:pt x="6350" y="5302250"/>
                  </a:lnTo>
                  <a:lnTo>
                    <a:pt x="12700" y="5302250"/>
                  </a:lnTo>
                  <a:cubicBezTo>
                    <a:pt x="12700" y="5386451"/>
                    <a:pt x="81026" y="5454650"/>
                    <a:pt x="165354" y="5454650"/>
                  </a:cubicBezTo>
                  <a:lnTo>
                    <a:pt x="21585301" y="5454650"/>
                  </a:lnTo>
                  <a:cubicBezTo>
                    <a:pt x="21669629" y="5454650"/>
                    <a:pt x="21737955" y="5386451"/>
                    <a:pt x="21737955" y="5302250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30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3607148"/>
            <a:ext cx="5428060" cy="4071937"/>
            <a:chOff x="0" y="0"/>
            <a:chExt cx="7237413" cy="5429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37349" cy="5429250"/>
            </a:xfrm>
            <a:custGeom>
              <a:avLst/>
              <a:gdLst/>
              <a:ahLst/>
              <a:cxnLst/>
              <a:rect l="l" t="t" r="r" b="b"/>
              <a:pathLst>
                <a:path w="7237349" h="542925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078599" y="0"/>
                  </a:lnTo>
                  <a:cubicBezTo>
                    <a:pt x="7166356" y="0"/>
                    <a:pt x="7237349" y="71120"/>
                    <a:pt x="7237349" y="158750"/>
                  </a:cubicBezTo>
                  <a:lnTo>
                    <a:pt x="7237349" y="5270500"/>
                  </a:lnTo>
                  <a:cubicBezTo>
                    <a:pt x="7237349" y="5358257"/>
                    <a:pt x="7166229" y="5429250"/>
                    <a:pt x="7078599" y="5429250"/>
                  </a:cubicBezTo>
                  <a:lnTo>
                    <a:pt x="158750" y="5429250"/>
                  </a:lnTo>
                  <a:cubicBezTo>
                    <a:pt x="71120" y="5429250"/>
                    <a:pt x="0" y="5358130"/>
                    <a:pt x="0" y="5270500"/>
                  </a:cubicBez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280" y="3852565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Integrity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280" y="4398913"/>
            <a:ext cx="486102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Risk: Missing values/duplicates skew results (e.g., orphaned seller_id).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280" y="5476280"/>
            <a:ext cx="4861024" cy="146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Mitigation:</a:t>
            </a: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Automated primary/foreign key checks and post-loading validation scripts.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29821" y="3607148"/>
            <a:ext cx="5428209" cy="4071937"/>
            <a:chOff x="0" y="0"/>
            <a:chExt cx="7237612" cy="5429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37603" cy="5429250"/>
            </a:xfrm>
            <a:custGeom>
              <a:avLst/>
              <a:gdLst/>
              <a:ahLst/>
              <a:cxnLst/>
              <a:rect l="l" t="t" r="r" b="b"/>
              <a:pathLst>
                <a:path w="7237603" h="5429250">
                  <a:moveTo>
                    <a:pt x="0" y="0"/>
                  </a:moveTo>
                  <a:lnTo>
                    <a:pt x="7237603" y="0"/>
                  </a:lnTo>
                  <a:lnTo>
                    <a:pt x="7237603" y="5429250"/>
                  </a:lnTo>
                  <a:lnTo>
                    <a:pt x="0" y="5429250"/>
                  </a:ln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29821" y="3607148"/>
            <a:ext cx="38100" cy="4071937"/>
            <a:chOff x="0" y="0"/>
            <a:chExt cx="50800" cy="54292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00" cy="5429250"/>
            </a:xfrm>
            <a:custGeom>
              <a:avLst/>
              <a:gdLst/>
              <a:ahLst/>
              <a:cxnLst/>
              <a:rect l="l" t="t" r="r" b="b"/>
              <a:pathLst>
                <a:path w="50800" h="542925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403850"/>
                  </a:lnTo>
                  <a:cubicBezTo>
                    <a:pt x="50800" y="5417820"/>
                    <a:pt x="39370" y="5429250"/>
                    <a:pt x="25400" y="5429250"/>
                  </a:cubicBezTo>
                  <a:cubicBezTo>
                    <a:pt x="11430" y="5429250"/>
                    <a:pt x="0" y="5417820"/>
                    <a:pt x="0" y="5403850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713339" y="3852565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System Integration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13339" y="4398913"/>
            <a:ext cx="4861172" cy="146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Risk: Mismatched IDs between sources leading to incomplete datasets.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2632" y="5492501"/>
            <a:ext cx="4861172" cy="146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Mitigation:</a:t>
            </a:r>
            <a:r>
              <a:rPr lang="en-US" sz="2187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Dependency-ordered loading and merge validations; rollback scripts for contingency.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858030" y="3607148"/>
            <a:ext cx="5428209" cy="4071937"/>
            <a:chOff x="0" y="0"/>
            <a:chExt cx="7237612" cy="5429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37603" cy="5429250"/>
            </a:xfrm>
            <a:custGeom>
              <a:avLst/>
              <a:gdLst/>
              <a:ahLst/>
              <a:cxnLst/>
              <a:rect l="l" t="t" r="r" b="b"/>
              <a:pathLst>
                <a:path w="7237603" h="5429250">
                  <a:moveTo>
                    <a:pt x="0" y="0"/>
                  </a:moveTo>
                  <a:lnTo>
                    <a:pt x="7237603" y="0"/>
                  </a:lnTo>
                  <a:lnTo>
                    <a:pt x="7237603" y="5429250"/>
                  </a:lnTo>
                  <a:lnTo>
                    <a:pt x="0" y="5429250"/>
                  </a:ln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58030" y="3607148"/>
            <a:ext cx="38100" cy="4071937"/>
            <a:chOff x="0" y="0"/>
            <a:chExt cx="50800" cy="5429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800" cy="5429250"/>
            </a:xfrm>
            <a:custGeom>
              <a:avLst/>
              <a:gdLst/>
              <a:ahLst/>
              <a:cxnLst/>
              <a:rect l="l" t="t" r="r" b="b"/>
              <a:pathLst>
                <a:path w="50800" h="542925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403850"/>
                  </a:lnTo>
                  <a:cubicBezTo>
                    <a:pt x="50800" y="5417820"/>
                    <a:pt x="39370" y="5429250"/>
                    <a:pt x="25400" y="5429250"/>
                  </a:cubicBezTo>
                  <a:cubicBezTo>
                    <a:pt x="11430" y="5429250"/>
                    <a:pt x="0" y="5417820"/>
                    <a:pt x="0" y="5403850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141548" y="3852565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Scalability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41548" y="4398913"/>
            <a:ext cx="486117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Risk: Lagging query performance as the dataset grows.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41548" y="5476280"/>
            <a:ext cx="486117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Mitigation:</a:t>
            </a: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Snowflake's auto-scaling, partitioning, and indexing features.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7902774"/>
            <a:ext cx="16303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Effectiveness is proven by successful integration and minimal critical errors in validation, adhering to industry standards like ISO 27001.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9854" y="527596"/>
            <a:ext cx="10859244" cy="69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Data Analysis Results: E-commerce Patterns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9854" y="1792635"/>
            <a:ext cx="16828294" cy="41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Key insights derived from Power BI visualizations on transformed Olist data.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729854" y="2211884"/>
            <a:ext cx="625674" cy="625674"/>
          </a:xfrm>
          <a:custGeom>
            <a:avLst/>
            <a:gdLst/>
            <a:ahLst/>
            <a:cxnLst/>
            <a:rect l="l" t="t" r="r" b="b"/>
            <a:pathLst>
              <a:path w="625674" h="625674">
                <a:moveTo>
                  <a:pt x="0" y="0"/>
                </a:moveTo>
                <a:lnTo>
                  <a:pt x="625673" y="0"/>
                </a:lnTo>
                <a:lnTo>
                  <a:pt x="625673" y="625673"/>
                </a:lnTo>
                <a:lnTo>
                  <a:pt x="0" y="625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72" b="-22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29854" y="3079105"/>
            <a:ext cx="2607022" cy="34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Revenue Trends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9854" y="3463379"/>
            <a:ext cx="8283774" cy="752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GMV is smaller on weekends but higher during weekdays, growing monthly until August.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74225" y="2211884"/>
            <a:ext cx="625674" cy="625674"/>
          </a:xfrm>
          <a:custGeom>
            <a:avLst/>
            <a:gdLst/>
            <a:ahLst/>
            <a:cxnLst/>
            <a:rect l="l" t="t" r="r" b="b"/>
            <a:pathLst>
              <a:path w="625674" h="625674">
                <a:moveTo>
                  <a:pt x="0" y="0"/>
                </a:moveTo>
                <a:lnTo>
                  <a:pt x="625674" y="0"/>
                </a:lnTo>
                <a:lnTo>
                  <a:pt x="625674" y="625673"/>
                </a:lnTo>
                <a:lnTo>
                  <a:pt x="0" y="625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272" b="-22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274225" y="3079105"/>
            <a:ext cx="3276302" cy="34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Geographic Concentration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74225" y="3463379"/>
            <a:ext cx="8283922" cy="752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São Paulo (48k orders, highest GMV), Rio de Janeiro, and Minas Gerais lead in customer and seller locations.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729854" y="4633169"/>
            <a:ext cx="625674" cy="625674"/>
          </a:xfrm>
          <a:custGeom>
            <a:avLst/>
            <a:gdLst/>
            <a:ahLst/>
            <a:cxnLst/>
            <a:rect l="l" t="t" r="r" b="b"/>
            <a:pathLst>
              <a:path w="625674" h="625674">
                <a:moveTo>
                  <a:pt x="0" y="0"/>
                </a:moveTo>
                <a:lnTo>
                  <a:pt x="625673" y="0"/>
                </a:lnTo>
                <a:lnTo>
                  <a:pt x="625673" y="625673"/>
                </a:lnTo>
                <a:lnTo>
                  <a:pt x="0" y="6256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3636" b="-136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29854" y="5500390"/>
            <a:ext cx="2656285" cy="34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Product Performance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854" y="5884664"/>
            <a:ext cx="8283774" cy="75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Health &amp; Beauty and Watches/Gifts are highest revenue earners. Bed Bath &amp; Table has 4.04 average reviews.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74225" y="4633169"/>
            <a:ext cx="625674" cy="625674"/>
          </a:xfrm>
          <a:custGeom>
            <a:avLst/>
            <a:gdLst/>
            <a:ahLst/>
            <a:cxnLst/>
            <a:rect l="l" t="t" r="r" b="b"/>
            <a:pathLst>
              <a:path w="625674" h="625674">
                <a:moveTo>
                  <a:pt x="0" y="0"/>
                </a:moveTo>
                <a:lnTo>
                  <a:pt x="625674" y="0"/>
                </a:lnTo>
                <a:lnTo>
                  <a:pt x="625674" y="625673"/>
                </a:lnTo>
                <a:lnTo>
                  <a:pt x="0" y="6256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9274225" y="5500390"/>
            <a:ext cx="2607022" cy="34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Delivery &amp; Reviews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4225" y="5884664"/>
            <a:ext cx="8283922" cy="75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Minimal cancellations (~550). Delayed deliveries are directly associated with lower customer review scores.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3336876" y="7391846"/>
            <a:ext cx="3660130" cy="2502694"/>
            <a:chOff x="0" y="0"/>
            <a:chExt cx="4880173" cy="333692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4880229" cy="3336925"/>
            </a:xfrm>
            <a:custGeom>
              <a:avLst/>
              <a:gdLst/>
              <a:ahLst/>
              <a:cxnLst/>
              <a:rect l="l" t="t" r="r" b="b"/>
              <a:pathLst>
                <a:path w="4880229" h="3336925">
                  <a:moveTo>
                    <a:pt x="0" y="0"/>
                  </a:moveTo>
                  <a:lnTo>
                    <a:pt x="4880229" y="0"/>
                  </a:lnTo>
                  <a:lnTo>
                    <a:pt x="4880229" y="3336925"/>
                  </a:lnTo>
                  <a:lnTo>
                    <a:pt x="0" y="3336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82" r="1" b="-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589098" y="7008762"/>
            <a:ext cx="3660130" cy="2502694"/>
            <a:chOff x="0" y="0"/>
            <a:chExt cx="4880173" cy="3336925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4880229" cy="3336925"/>
            </a:xfrm>
            <a:custGeom>
              <a:avLst/>
              <a:gdLst/>
              <a:ahLst/>
              <a:cxnLst/>
              <a:rect l="l" t="t" r="r" b="b"/>
              <a:pathLst>
                <a:path w="4880229" h="3336925">
                  <a:moveTo>
                    <a:pt x="0" y="0"/>
                  </a:moveTo>
                  <a:lnTo>
                    <a:pt x="4880229" y="0"/>
                  </a:lnTo>
                  <a:lnTo>
                    <a:pt x="4880229" y="3336925"/>
                  </a:lnTo>
                  <a:lnTo>
                    <a:pt x="0" y="3336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82" r="1" b="-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4627" y="608111"/>
            <a:ext cx="11891962" cy="792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Strategic Recommendations &amp;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9390" y="2036565"/>
            <a:ext cx="16618744" cy="48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Actionable steps to enhance efficiency and customer satisfaction based on data analysis.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9865" y="2522935"/>
            <a:ext cx="8199685" cy="724941"/>
            <a:chOff x="0" y="0"/>
            <a:chExt cx="10932913" cy="966588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0920222" cy="953897"/>
            </a:xfrm>
            <a:custGeom>
              <a:avLst/>
              <a:gdLst/>
              <a:ahLst/>
              <a:cxnLst/>
              <a:rect l="l" t="t" r="r" b="b"/>
              <a:pathLst>
                <a:path w="10920222" h="953897">
                  <a:moveTo>
                    <a:pt x="0" y="476885"/>
                  </a:moveTo>
                  <a:cubicBezTo>
                    <a:pt x="0" y="213487"/>
                    <a:pt x="216154" y="0"/>
                    <a:pt x="482727" y="0"/>
                  </a:cubicBezTo>
                  <a:lnTo>
                    <a:pt x="10437495" y="0"/>
                  </a:lnTo>
                  <a:cubicBezTo>
                    <a:pt x="10704068" y="0"/>
                    <a:pt x="10920222" y="213487"/>
                    <a:pt x="10920222" y="476885"/>
                  </a:cubicBezTo>
                  <a:cubicBezTo>
                    <a:pt x="10920222" y="740283"/>
                    <a:pt x="10704068" y="953770"/>
                    <a:pt x="10437495" y="953770"/>
                  </a:cubicBezTo>
                  <a:lnTo>
                    <a:pt x="482727" y="953770"/>
                  </a:lnTo>
                  <a:cubicBezTo>
                    <a:pt x="216154" y="953897"/>
                    <a:pt x="0" y="740410"/>
                    <a:pt x="0" y="476885"/>
                  </a:cubicBez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932922" cy="966597"/>
            </a:xfrm>
            <a:custGeom>
              <a:avLst/>
              <a:gdLst/>
              <a:ahLst/>
              <a:cxnLst/>
              <a:rect l="l" t="t" r="r" b="b"/>
              <a:pathLst>
                <a:path w="10932922" h="966597">
                  <a:moveTo>
                    <a:pt x="0" y="483235"/>
                  </a:moveTo>
                  <a:cubicBezTo>
                    <a:pt x="0" y="216281"/>
                    <a:pt x="219075" y="0"/>
                    <a:pt x="489077" y="0"/>
                  </a:cubicBezTo>
                  <a:lnTo>
                    <a:pt x="10443845" y="0"/>
                  </a:lnTo>
                  <a:lnTo>
                    <a:pt x="10443845" y="6350"/>
                  </a:lnTo>
                  <a:lnTo>
                    <a:pt x="10443845" y="0"/>
                  </a:lnTo>
                  <a:cubicBezTo>
                    <a:pt x="10713847" y="0"/>
                    <a:pt x="10932922" y="216281"/>
                    <a:pt x="10932922" y="483235"/>
                  </a:cubicBezTo>
                  <a:lnTo>
                    <a:pt x="10926572" y="483235"/>
                  </a:lnTo>
                  <a:lnTo>
                    <a:pt x="10932922" y="483235"/>
                  </a:lnTo>
                  <a:lnTo>
                    <a:pt x="10926572" y="483235"/>
                  </a:lnTo>
                  <a:lnTo>
                    <a:pt x="10932922" y="483235"/>
                  </a:lnTo>
                  <a:cubicBezTo>
                    <a:pt x="10932922" y="750189"/>
                    <a:pt x="10713847" y="966470"/>
                    <a:pt x="10443845" y="966470"/>
                  </a:cubicBezTo>
                  <a:lnTo>
                    <a:pt x="10443845" y="960120"/>
                  </a:lnTo>
                  <a:lnTo>
                    <a:pt x="10443845" y="966470"/>
                  </a:lnTo>
                  <a:lnTo>
                    <a:pt x="489077" y="966470"/>
                  </a:lnTo>
                  <a:lnTo>
                    <a:pt x="489077" y="960120"/>
                  </a:lnTo>
                  <a:lnTo>
                    <a:pt x="489077" y="966470"/>
                  </a:lnTo>
                  <a:cubicBezTo>
                    <a:pt x="219075" y="966597"/>
                    <a:pt x="0" y="750316"/>
                    <a:pt x="0" y="483235"/>
                  </a:cubicBezTo>
                  <a:cubicBezTo>
                    <a:pt x="0" y="479679"/>
                    <a:pt x="2794" y="476885"/>
                    <a:pt x="6350" y="476885"/>
                  </a:cubicBezTo>
                  <a:lnTo>
                    <a:pt x="6350" y="483235"/>
                  </a:lnTo>
                  <a:lnTo>
                    <a:pt x="0" y="483235"/>
                  </a:lnTo>
                  <a:moveTo>
                    <a:pt x="12700" y="483235"/>
                  </a:moveTo>
                  <a:cubicBezTo>
                    <a:pt x="12700" y="486791"/>
                    <a:pt x="9906" y="489585"/>
                    <a:pt x="6350" y="489585"/>
                  </a:cubicBezTo>
                  <a:lnTo>
                    <a:pt x="6350" y="483235"/>
                  </a:lnTo>
                  <a:lnTo>
                    <a:pt x="12700" y="483235"/>
                  </a:lnTo>
                  <a:cubicBezTo>
                    <a:pt x="12700" y="743077"/>
                    <a:pt x="225933" y="953897"/>
                    <a:pt x="489077" y="953897"/>
                  </a:cubicBezTo>
                  <a:lnTo>
                    <a:pt x="10443845" y="953897"/>
                  </a:lnTo>
                  <a:cubicBezTo>
                    <a:pt x="10706988" y="953897"/>
                    <a:pt x="10920222" y="743077"/>
                    <a:pt x="10920222" y="483362"/>
                  </a:cubicBezTo>
                  <a:cubicBezTo>
                    <a:pt x="10920222" y="223647"/>
                    <a:pt x="10706989" y="12700"/>
                    <a:pt x="10443845" y="12700"/>
                  </a:cubicBezTo>
                  <a:lnTo>
                    <a:pt x="489077" y="12700"/>
                  </a:lnTo>
                  <a:lnTo>
                    <a:pt x="489077" y="6350"/>
                  </a:lnTo>
                  <a:lnTo>
                    <a:pt x="489077" y="12700"/>
                  </a:lnTo>
                  <a:cubicBezTo>
                    <a:pt x="225933" y="12700"/>
                    <a:pt x="12700" y="223520"/>
                    <a:pt x="12700" y="483235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4750891" y="2706440"/>
            <a:ext cx="357634" cy="357634"/>
          </a:xfrm>
          <a:custGeom>
            <a:avLst/>
            <a:gdLst/>
            <a:ahLst/>
            <a:cxnLst/>
            <a:rect l="l" t="t" r="r" b="b"/>
            <a:pathLst>
              <a:path w="357634" h="357634">
                <a:moveTo>
                  <a:pt x="0" y="0"/>
                </a:moveTo>
                <a:lnTo>
                  <a:pt x="357634" y="0"/>
                </a:lnTo>
                <a:lnTo>
                  <a:pt x="357634" y="357634"/>
                </a:lnTo>
                <a:lnTo>
                  <a:pt x="0" y="357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157" b="-131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73051" y="3452961"/>
            <a:ext cx="2981176" cy="4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Upgrade Logistics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3051" y="3892302"/>
            <a:ext cx="7713315" cy="86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Minimize "Very Late" deliveries using regional carriers and AI forecasting to boost customer satisfaction by 20%.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8449" y="2522935"/>
            <a:ext cx="8199685" cy="724941"/>
            <a:chOff x="0" y="0"/>
            <a:chExt cx="10932913" cy="966588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10920222" cy="953897"/>
            </a:xfrm>
            <a:custGeom>
              <a:avLst/>
              <a:gdLst/>
              <a:ahLst/>
              <a:cxnLst/>
              <a:rect l="l" t="t" r="r" b="b"/>
              <a:pathLst>
                <a:path w="10920222" h="953897">
                  <a:moveTo>
                    <a:pt x="0" y="476885"/>
                  </a:moveTo>
                  <a:cubicBezTo>
                    <a:pt x="0" y="213487"/>
                    <a:pt x="216154" y="0"/>
                    <a:pt x="482727" y="0"/>
                  </a:cubicBezTo>
                  <a:lnTo>
                    <a:pt x="10437495" y="0"/>
                  </a:lnTo>
                  <a:cubicBezTo>
                    <a:pt x="10704068" y="0"/>
                    <a:pt x="10920222" y="213487"/>
                    <a:pt x="10920222" y="476885"/>
                  </a:cubicBezTo>
                  <a:cubicBezTo>
                    <a:pt x="10920222" y="740283"/>
                    <a:pt x="10704068" y="953770"/>
                    <a:pt x="10437495" y="953770"/>
                  </a:cubicBezTo>
                  <a:lnTo>
                    <a:pt x="482727" y="953770"/>
                  </a:lnTo>
                  <a:cubicBezTo>
                    <a:pt x="216154" y="953897"/>
                    <a:pt x="0" y="740410"/>
                    <a:pt x="0" y="476885"/>
                  </a:cubicBez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932922" cy="966597"/>
            </a:xfrm>
            <a:custGeom>
              <a:avLst/>
              <a:gdLst/>
              <a:ahLst/>
              <a:cxnLst/>
              <a:rect l="l" t="t" r="r" b="b"/>
              <a:pathLst>
                <a:path w="10932922" h="966597">
                  <a:moveTo>
                    <a:pt x="0" y="483235"/>
                  </a:moveTo>
                  <a:cubicBezTo>
                    <a:pt x="0" y="216281"/>
                    <a:pt x="219075" y="0"/>
                    <a:pt x="489077" y="0"/>
                  </a:cubicBezTo>
                  <a:lnTo>
                    <a:pt x="10443845" y="0"/>
                  </a:lnTo>
                  <a:lnTo>
                    <a:pt x="10443845" y="6350"/>
                  </a:lnTo>
                  <a:lnTo>
                    <a:pt x="10443845" y="0"/>
                  </a:lnTo>
                  <a:cubicBezTo>
                    <a:pt x="10713847" y="0"/>
                    <a:pt x="10932922" y="216281"/>
                    <a:pt x="10932922" y="483235"/>
                  </a:cubicBezTo>
                  <a:lnTo>
                    <a:pt x="10926572" y="483235"/>
                  </a:lnTo>
                  <a:lnTo>
                    <a:pt x="10932922" y="483235"/>
                  </a:lnTo>
                  <a:lnTo>
                    <a:pt x="10926572" y="483235"/>
                  </a:lnTo>
                  <a:lnTo>
                    <a:pt x="10932922" y="483235"/>
                  </a:lnTo>
                  <a:cubicBezTo>
                    <a:pt x="10932922" y="750189"/>
                    <a:pt x="10713847" y="966470"/>
                    <a:pt x="10443845" y="966470"/>
                  </a:cubicBezTo>
                  <a:lnTo>
                    <a:pt x="10443845" y="960120"/>
                  </a:lnTo>
                  <a:lnTo>
                    <a:pt x="10443845" y="966470"/>
                  </a:lnTo>
                  <a:lnTo>
                    <a:pt x="489077" y="966470"/>
                  </a:lnTo>
                  <a:lnTo>
                    <a:pt x="489077" y="960120"/>
                  </a:lnTo>
                  <a:lnTo>
                    <a:pt x="489077" y="966470"/>
                  </a:lnTo>
                  <a:cubicBezTo>
                    <a:pt x="219075" y="966597"/>
                    <a:pt x="0" y="750316"/>
                    <a:pt x="0" y="483235"/>
                  </a:cubicBezTo>
                  <a:cubicBezTo>
                    <a:pt x="0" y="479679"/>
                    <a:pt x="2794" y="476885"/>
                    <a:pt x="6350" y="476885"/>
                  </a:cubicBezTo>
                  <a:lnTo>
                    <a:pt x="6350" y="483235"/>
                  </a:lnTo>
                  <a:lnTo>
                    <a:pt x="0" y="483235"/>
                  </a:lnTo>
                  <a:moveTo>
                    <a:pt x="12700" y="483235"/>
                  </a:moveTo>
                  <a:cubicBezTo>
                    <a:pt x="12700" y="486791"/>
                    <a:pt x="9906" y="489585"/>
                    <a:pt x="6350" y="489585"/>
                  </a:cubicBezTo>
                  <a:lnTo>
                    <a:pt x="6350" y="483235"/>
                  </a:lnTo>
                  <a:lnTo>
                    <a:pt x="12700" y="483235"/>
                  </a:lnTo>
                  <a:cubicBezTo>
                    <a:pt x="12700" y="743077"/>
                    <a:pt x="225933" y="953897"/>
                    <a:pt x="489077" y="953897"/>
                  </a:cubicBezTo>
                  <a:lnTo>
                    <a:pt x="10443845" y="953897"/>
                  </a:lnTo>
                  <a:cubicBezTo>
                    <a:pt x="10706988" y="953897"/>
                    <a:pt x="10920222" y="743077"/>
                    <a:pt x="10920222" y="483362"/>
                  </a:cubicBezTo>
                  <a:cubicBezTo>
                    <a:pt x="10920222" y="223647"/>
                    <a:pt x="10706989" y="12700"/>
                    <a:pt x="10443845" y="12700"/>
                  </a:cubicBezTo>
                  <a:lnTo>
                    <a:pt x="489077" y="12700"/>
                  </a:lnTo>
                  <a:lnTo>
                    <a:pt x="489077" y="6350"/>
                  </a:lnTo>
                  <a:lnTo>
                    <a:pt x="489077" y="12700"/>
                  </a:lnTo>
                  <a:cubicBezTo>
                    <a:pt x="225933" y="12700"/>
                    <a:pt x="12700" y="223520"/>
                    <a:pt x="12700" y="483235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13179475" y="2706440"/>
            <a:ext cx="357634" cy="357634"/>
          </a:xfrm>
          <a:custGeom>
            <a:avLst/>
            <a:gdLst/>
            <a:ahLst/>
            <a:cxnLst/>
            <a:rect l="l" t="t" r="r" b="b"/>
            <a:pathLst>
              <a:path w="357634" h="357634">
                <a:moveTo>
                  <a:pt x="0" y="0"/>
                </a:moveTo>
                <a:lnTo>
                  <a:pt x="357634" y="0"/>
                </a:lnTo>
                <a:lnTo>
                  <a:pt x="357634" y="357634"/>
                </a:lnTo>
                <a:lnTo>
                  <a:pt x="0" y="357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9501634" y="3452961"/>
            <a:ext cx="2981176" cy="4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Targeted Marketing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01634" y="3892302"/>
            <a:ext cx="7713315" cy="86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Target Southeastern Brazil with weekday ads and promote high-revenue products (Health &amp; Beauty).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29865" y="5232350"/>
            <a:ext cx="8199685" cy="724941"/>
            <a:chOff x="0" y="0"/>
            <a:chExt cx="10932913" cy="966588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10920222" cy="953897"/>
            </a:xfrm>
            <a:custGeom>
              <a:avLst/>
              <a:gdLst/>
              <a:ahLst/>
              <a:cxnLst/>
              <a:rect l="l" t="t" r="r" b="b"/>
              <a:pathLst>
                <a:path w="10920222" h="953897">
                  <a:moveTo>
                    <a:pt x="0" y="476885"/>
                  </a:moveTo>
                  <a:cubicBezTo>
                    <a:pt x="0" y="213487"/>
                    <a:pt x="216154" y="0"/>
                    <a:pt x="482727" y="0"/>
                  </a:cubicBezTo>
                  <a:lnTo>
                    <a:pt x="10437495" y="0"/>
                  </a:lnTo>
                  <a:cubicBezTo>
                    <a:pt x="10704068" y="0"/>
                    <a:pt x="10920222" y="213487"/>
                    <a:pt x="10920222" y="476885"/>
                  </a:cubicBezTo>
                  <a:cubicBezTo>
                    <a:pt x="10920222" y="740283"/>
                    <a:pt x="10704068" y="953770"/>
                    <a:pt x="10437495" y="953770"/>
                  </a:cubicBezTo>
                  <a:lnTo>
                    <a:pt x="482727" y="953770"/>
                  </a:lnTo>
                  <a:cubicBezTo>
                    <a:pt x="216154" y="953897"/>
                    <a:pt x="0" y="740410"/>
                    <a:pt x="0" y="476885"/>
                  </a:cubicBez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0932922" cy="966597"/>
            </a:xfrm>
            <a:custGeom>
              <a:avLst/>
              <a:gdLst/>
              <a:ahLst/>
              <a:cxnLst/>
              <a:rect l="l" t="t" r="r" b="b"/>
              <a:pathLst>
                <a:path w="10932922" h="966597">
                  <a:moveTo>
                    <a:pt x="0" y="483235"/>
                  </a:moveTo>
                  <a:cubicBezTo>
                    <a:pt x="0" y="216281"/>
                    <a:pt x="219075" y="0"/>
                    <a:pt x="489077" y="0"/>
                  </a:cubicBezTo>
                  <a:lnTo>
                    <a:pt x="10443845" y="0"/>
                  </a:lnTo>
                  <a:lnTo>
                    <a:pt x="10443845" y="6350"/>
                  </a:lnTo>
                  <a:lnTo>
                    <a:pt x="10443845" y="0"/>
                  </a:lnTo>
                  <a:cubicBezTo>
                    <a:pt x="10713847" y="0"/>
                    <a:pt x="10932922" y="216281"/>
                    <a:pt x="10932922" y="483235"/>
                  </a:cubicBezTo>
                  <a:lnTo>
                    <a:pt x="10926572" y="483235"/>
                  </a:lnTo>
                  <a:lnTo>
                    <a:pt x="10932922" y="483235"/>
                  </a:lnTo>
                  <a:lnTo>
                    <a:pt x="10926572" y="483235"/>
                  </a:lnTo>
                  <a:lnTo>
                    <a:pt x="10932922" y="483235"/>
                  </a:lnTo>
                  <a:cubicBezTo>
                    <a:pt x="10932922" y="750189"/>
                    <a:pt x="10713847" y="966470"/>
                    <a:pt x="10443845" y="966470"/>
                  </a:cubicBezTo>
                  <a:lnTo>
                    <a:pt x="10443845" y="960120"/>
                  </a:lnTo>
                  <a:lnTo>
                    <a:pt x="10443845" y="966470"/>
                  </a:lnTo>
                  <a:lnTo>
                    <a:pt x="489077" y="966470"/>
                  </a:lnTo>
                  <a:lnTo>
                    <a:pt x="489077" y="960120"/>
                  </a:lnTo>
                  <a:lnTo>
                    <a:pt x="489077" y="966470"/>
                  </a:lnTo>
                  <a:cubicBezTo>
                    <a:pt x="219075" y="966597"/>
                    <a:pt x="0" y="750316"/>
                    <a:pt x="0" y="483235"/>
                  </a:cubicBezTo>
                  <a:cubicBezTo>
                    <a:pt x="0" y="479679"/>
                    <a:pt x="2794" y="476885"/>
                    <a:pt x="6350" y="476885"/>
                  </a:cubicBezTo>
                  <a:lnTo>
                    <a:pt x="6350" y="483235"/>
                  </a:lnTo>
                  <a:lnTo>
                    <a:pt x="0" y="483235"/>
                  </a:lnTo>
                  <a:moveTo>
                    <a:pt x="12700" y="483235"/>
                  </a:moveTo>
                  <a:cubicBezTo>
                    <a:pt x="12700" y="486791"/>
                    <a:pt x="9906" y="489585"/>
                    <a:pt x="6350" y="489585"/>
                  </a:cubicBezTo>
                  <a:lnTo>
                    <a:pt x="6350" y="483235"/>
                  </a:lnTo>
                  <a:lnTo>
                    <a:pt x="12700" y="483235"/>
                  </a:lnTo>
                  <a:cubicBezTo>
                    <a:pt x="12700" y="743077"/>
                    <a:pt x="225933" y="953897"/>
                    <a:pt x="489077" y="953897"/>
                  </a:cubicBezTo>
                  <a:lnTo>
                    <a:pt x="10443845" y="953897"/>
                  </a:lnTo>
                  <a:cubicBezTo>
                    <a:pt x="10706988" y="953897"/>
                    <a:pt x="10920222" y="743077"/>
                    <a:pt x="10920222" y="483362"/>
                  </a:cubicBezTo>
                  <a:cubicBezTo>
                    <a:pt x="10920222" y="223647"/>
                    <a:pt x="10706989" y="12700"/>
                    <a:pt x="10443845" y="12700"/>
                  </a:cubicBezTo>
                  <a:lnTo>
                    <a:pt x="489077" y="12700"/>
                  </a:lnTo>
                  <a:lnTo>
                    <a:pt x="489077" y="6350"/>
                  </a:lnTo>
                  <a:lnTo>
                    <a:pt x="489077" y="12700"/>
                  </a:lnTo>
                  <a:cubicBezTo>
                    <a:pt x="225933" y="12700"/>
                    <a:pt x="12700" y="223520"/>
                    <a:pt x="12700" y="483235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4750891" y="5415855"/>
            <a:ext cx="357634" cy="357634"/>
          </a:xfrm>
          <a:custGeom>
            <a:avLst/>
            <a:gdLst/>
            <a:ahLst/>
            <a:cxnLst/>
            <a:rect l="l" t="t" r="r" b="b"/>
            <a:pathLst>
              <a:path w="357634" h="357634">
                <a:moveTo>
                  <a:pt x="0" y="0"/>
                </a:moveTo>
                <a:lnTo>
                  <a:pt x="357634" y="0"/>
                </a:lnTo>
                <a:lnTo>
                  <a:pt x="357634" y="357634"/>
                </a:lnTo>
                <a:lnTo>
                  <a:pt x="0" y="357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15" r="-13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73051" y="6162377"/>
            <a:ext cx="3438227" cy="4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Payment Enhancements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3051" y="6601717"/>
            <a:ext cx="7713315" cy="86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Offer installments for high-value items and include debit/voucher options to access non-credit users.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258449" y="5232350"/>
            <a:ext cx="8199685" cy="724941"/>
            <a:chOff x="0" y="0"/>
            <a:chExt cx="10932913" cy="966588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10920222" cy="953897"/>
            </a:xfrm>
            <a:custGeom>
              <a:avLst/>
              <a:gdLst/>
              <a:ahLst/>
              <a:cxnLst/>
              <a:rect l="l" t="t" r="r" b="b"/>
              <a:pathLst>
                <a:path w="10920222" h="953897">
                  <a:moveTo>
                    <a:pt x="0" y="476885"/>
                  </a:moveTo>
                  <a:cubicBezTo>
                    <a:pt x="0" y="213487"/>
                    <a:pt x="216154" y="0"/>
                    <a:pt x="482727" y="0"/>
                  </a:cubicBezTo>
                  <a:lnTo>
                    <a:pt x="10437495" y="0"/>
                  </a:lnTo>
                  <a:cubicBezTo>
                    <a:pt x="10704068" y="0"/>
                    <a:pt x="10920222" y="213487"/>
                    <a:pt x="10920222" y="476885"/>
                  </a:cubicBezTo>
                  <a:cubicBezTo>
                    <a:pt x="10920222" y="740283"/>
                    <a:pt x="10704068" y="953770"/>
                    <a:pt x="10437495" y="953770"/>
                  </a:cubicBezTo>
                  <a:lnTo>
                    <a:pt x="482727" y="953770"/>
                  </a:lnTo>
                  <a:cubicBezTo>
                    <a:pt x="216154" y="953897"/>
                    <a:pt x="0" y="740410"/>
                    <a:pt x="0" y="476885"/>
                  </a:cubicBezTo>
                  <a:close/>
                </a:path>
              </a:pathLst>
            </a:custGeom>
            <a:solidFill>
              <a:srgbClr val="50546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10932922" cy="966597"/>
            </a:xfrm>
            <a:custGeom>
              <a:avLst/>
              <a:gdLst/>
              <a:ahLst/>
              <a:cxnLst/>
              <a:rect l="l" t="t" r="r" b="b"/>
              <a:pathLst>
                <a:path w="10932922" h="966597">
                  <a:moveTo>
                    <a:pt x="0" y="483235"/>
                  </a:moveTo>
                  <a:cubicBezTo>
                    <a:pt x="0" y="216281"/>
                    <a:pt x="219075" y="0"/>
                    <a:pt x="489077" y="0"/>
                  </a:cubicBezTo>
                  <a:lnTo>
                    <a:pt x="10443845" y="0"/>
                  </a:lnTo>
                  <a:lnTo>
                    <a:pt x="10443845" y="6350"/>
                  </a:lnTo>
                  <a:lnTo>
                    <a:pt x="10443845" y="0"/>
                  </a:lnTo>
                  <a:cubicBezTo>
                    <a:pt x="10713847" y="0"/>
                    <a:pt x="10932922" y="216281"/>
                    <a:pt x="10932922" y="483235"/>
                  </a:cubicBezTo>
                  <a:lnTo>
                    <a:pt x="10926572" y="483235"/>
                  </a:lnTo>
                  <a:lnTo>
                    <a:pt x="10932922" y="483235"/>
                  </a:lnTo>
                  <a:lnTo>
                    <a:pt x="10926572" y="483235"/>
                  </a:lnTo>
                  <a:lnTo>
                    <a:pt x="10932922" y="483235"/>
                  </a:lnTo>
                  <a:cubicBezTo>
                    <a:pt x="10932922" y="750189"/>
                    <a:pt x="10713847" y="966470"/>
                    <a:pt x="10443845" y="966470"/>
                  </a:cubicBezTo>
                  <a:lnTo>
                    <a:pt x="10443845" y="960120"/>
                  </a:lnTo>
                  <a:lnTo>
                    <a:pt x="10443845" y="966470"/>
                  </a:lnTo>
                  <a:lnTo>
                    <a:pt x="489077" y="966470"/>
                  </a:lnTo>
                  <a:lnTo>
                    <a:pt x="489077" y="960120"/>
                  </a:lnTo>
                  <a:lnTo>
                    <a:pt x="489077" y="966470"/>
                  </a:lnTo>
                  <a:cubicBezTo>
                    <a:pt x="219075" y="966597"/>
                    <a:pt x="0" y="750316"/>
                    <a:pt x="0" y="483235"/>
                  </a:cubicBezTo>
                  <a:cubicBezTo>
                    <a:pt x="0" y="479679"/>
                    <a:pt x="2794" y="476885"/>
                    <a:pt x="6350" y="476885"/>
                  </a:cubicBezTo>
                  <a:lnTo>
                    <a:pt x="6350" y="483235"/>
                  </a:lnTo>
                  <a:lnTo>
                    <a:pt x="0" y="483235"/>
                  </a:lnTo>
                  <a:moveTo>
                    <a:pt x="12700" y="483235"/>
                  </a:moveTo>
                  <a:cubicBezTo>
                    <a:pt x="12700" y="486791"/>
                    <a:pt x="9906" y="489585"/>
                    <a:pt x="6350" y="489585"/>
                  </a:cubicBezTo>
                  <a:lnTo>
                    <a:pt x="6350" y="483235"/>
                  </a:lnTo>
                  <a:lnTo>
                    <a:pt x="12700" y="483235"/>
                  </a:lnTo>
                  <a:cubicBezTo>
                    <a:pt x="12700" y="743077"/>
                    <a:pt x="225933" y="953897"/>
                    <a:pt x="489077" y="953897"/>
                  </a:cubicBezTo>
                  <a:lnTo>
                    <a:pt x="10443845" y="953897"/>
                  </a:lnTo>
                  <a:cubicBezTo>
                    <a:pt x="10706988" y="953897"/>
                    <a:pt x="10920222" y="743077"/>
                    <a:pt x="10920222" y="483362"/>
                  </a:cubicBezTo>
                  <a:cubicBezTo>
                    <a:pt x="10920222" y="223647"/>
                    <a:pt x="10706989" y="12700"/>
                    <a:pt x="10443845" y="12700"/>
                  </a:cubicBezTo>
                  <a:lnTo>
                    <a:pt x="489077" y="12700"/>
                  </a:lnTo>
                  <a:lnTo>
                    <a:pt x="489077" y="6350"/>
                  </a:lnTo>
                  <a:lnTo>
                    <a:pt x="489077" y="12700"/>
                  </a:lnTo>
                  <a:cubicBezTo>
                    <a:pt x="225933" y="12700"/>
                    <a:pt x="12700" y="223520"/>
                    <a:pt x="12700" y="483235"/>
                  </a:cubicBezTo>
                  <a:close/>
                </a:path>
              </a:pathLst>
            </a:custGeom>
            <a:solidFill>
              <a:srgbClr val="696D8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13179475" y="5415855"/>
            <a:ext cx="357634" cy="357634"/>
          </a:xfrm>
          <a:custGeom>
            <a:avLst/>
            <a:gdLst/>
            <a:ahLst/>
            <a:cxnLst/>
            <a:rect l="l" t="t" r="r" b="b"/>
            <a:pathLst>
              <a:path w="357634" h="357634">
                <a:moveTo>
                  <a:pt x="0" y="0"/>
                </a:moveTo>
                <a:lnTo>
                  <a:pt x="357634" y="0"/>
                </a:lnTo>
                <a:lnTo>
                  <a:pt x="357634" y="357634"/>
                </a:lnTo>
                <a:lnTo>
                  <a:pt x="0" y="357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31" r="-26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501634" y="6162377"/>
            <a:ext cx="2981176" cy="4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Seller Management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1634" y="6601717"/>
            <a:ext cx="7713315" cy="86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Track on-time rates and provide training to low-reviewed sellers to ensure retention and quality.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4627" y="8037165"/>
            <a:ext cx="3577381" cy="47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4627" y="8765827"/>
            <a:ext cx="16618744" cy="86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This project successfully delivered a robust BI/DW solution, transforming raw Olist data into strategic intelligence that supports data-driven decisions for enhanced efficiency and customer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Custom</PresentationFormat>
  <Paragraphs>141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Arimo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E-commerce-BI-and-Data-Warehousing-Solution.pptx</dc:title>
  <cp:lastModifiedBy>Sneha Umrikar</cp:lastModifiedBy>
  <cp:revision>2</cp:revision>
  <dcterms:created xsi:type="dcterms:W3CDTF">2006-08-16T00:00:00Z</dcterms:created>
  <dcterms:modified xsi:type="dcterms:W3CDTF">2025-10-29T03:53:35Z</dcterms:modified>
  <dc:identifier>DAG3INie1h4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2025-10-29T03:53:34Z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5476c111-9f31-4f03-8f93-0e3849870c51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